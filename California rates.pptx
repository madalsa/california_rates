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0" roundtripDataSignature="AMtx7mgshRSsXnaBvXUdPFesOfwebD9M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079383-1A99-4B9A-989E-A9FBFBA226AF}">
  <a:tblStyle styleId="{71079383-1A99-4B9A-989E-A9FBFBA226A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6c0b04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c26c0b04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26c0b041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26c0b041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26c0b041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26c0b041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26c0b041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26c0b041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26c0b041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26c0b041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26c0b041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26c0b041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26c0b041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26c0b041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26c0b041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26c0b041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26c0b041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26c0b041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26c0b041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26c0b041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26c0b041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c26c0b041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26c0b04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26c0b04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778408" y="1050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Tariff design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rPr lang="en"/>
              <a:t>Jan 30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Google Shape;60;g3c26c0b041c_0_5"/>
          <p:cNvGraphicFramePr/>
          <p:nvPr/>
        </p:nvGraphicFramePr>
        <p:xfrm>
          <a:off x="703200" y="75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{71079383-1A99-4B9A-989E-A9FBFBA226AF}</a:tableStyleId>
              </a:tblPr>
              <a:tblGrid>
                <a:gridCol w="1629700"/>
                <a:gridCol w="1629700"/>
                <a:gridCol w="1629700"/>
                <a:gridCol w="1629700"/>
                <a:gridCol w="1629700"/>
              </a:tblGrid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Native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Electrified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Solar + storage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Other electrified appliances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4" hMerge="1"/>
                <a:tc rowSpan="4" hMerge="1"/>
                <a:tc rowSpan="4" h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 + TOU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TOU (EV rates)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70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Income graduated fixed charges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</a:tbl>
          </a:graphicData>
        </a:graphic>
      </p:graphicFrame>
      <p:cxnSp>
        <p:nvCxnSpPr>
          <p:cNvPr id="61" name="Google Shape;61;g3c26c0b041c_0_5"/>
          <p:cNvCxnSpPr/>
          <p:nvPr/>
        </p:nvCxnSpPr>
        <p:spPr>
          <a:xfrm>
            <a:off x="571550" y="888825"/>
            <a:ext cx="6600" cy="26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" name="Google Shape;62;g3c26c0b041c_0_5"/>
          <p:cNvCxnSpPr/>
          <p:nvPr/>
        </p:nvCxnSpPr>
        <p:spPr>
          <a:xfrm>
            <a:off x="2627475" y="434525"/>
            <a:ext cx="33315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" name="Google Shape;63;g3c26c0b041c_0_5"/>
          <p:cNvCxnSpPr/>
          <p:nvPr/>
        </p:nvCxnSpPr>
        <p:spPr>
          <a:xfrm>
            <a:off x="2434800" y="1496000"/>
            <a:ext cx="60258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g3c26c0b041c_0_5"/>
          <p:cNvSpPr txBox="1"/>
          <p:nvPr>
            <p:ph idx="4294967295" type="subTitle"/>
          </p:nvPr>
        </p:nvSpPr>
        <p:spPr>
          <a:xfrm>
            <a:off x="3380975" y="3838550"/>
            <a:ext cx="58383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/>
              <a:t>Affordability implications of changing rate designs and electric appliance adoptions across the state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c26c0b041c_0_5"/>
          <p:cNvSpPr txBox="1"/>
          <p:nvPr>
            <p:ph idx="4294967295" type="subTitle"/>
          </p:nvPr>
        </p:nvSpPr>
        <p:spPr>
          <a:xfrm>
            <a:off x="240125" y="3625575"/>
            <a:ext cx="2956500" cy="683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ct val="129032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 of oct 1, SDGE is the first utility in the state to implement IGFC!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c26c0b041c_0_5"/>
          <p:cNvSpPr/>
          <p:nvPr/>
        </p:nvSpPr>
        <p:spPr>
          <a:xfrm>
            <a:off x="411800" y="301100"/>
            <a:ext cx="3714900" cy="405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26c0b041c_0_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 1, SDGE moved from volumetric -&gt; volumetric + fixed rate</a:t>
            </a:r>
            <a:endParaRPr/>
          </a:p>
        </p:txBody>
      </p:sp>
      <p:sp>
        <p:nvSpPr>
          <p:cNvPr id="72" name="Google Shape;72;g3c26c0b041c_0_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Fixed rate for CARE customers: $6 (orange)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Everyone else (medium or high income): $24 (orange)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g3c26c0b041c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150" y="2029300"/>
            <a:ext cx="6852750" cy="29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26c0b041c_0_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 1, SDGE moved from volumetric -&gt; volumetric + fixed rate</a:t>
            </a:r>
            <a:endParaRPr/>
          </a:p>
        </p:txBody>
      </p:sp>
      <p:sp>
        <p:nvSpPr>
          <p:cNvPr id="79" name="Google Shape;79;g3c26c0b041c_0_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g3c26c0b041c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3375" y="1372600"/>
            <a:ext cx="4488576" cy="31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3c26c0b041c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424" y="1372600"/>
            <a:ext cx="2702951" cy="35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26c0b041c_0_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 increased for low electricity consumption, decreased for others</a:t>
            </a:r>
            <a:endParaRPr/>
          </a:p>
        </p:txBody>
      </p:sp>
      <p:sp>
        <p:nvSpPr>
          <p:cNvPr id="87" name="Google Shape;87;g3c26c0b041c_0_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g3c26c0b041c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200" y="1293500"/>
            <a:ext cx="5216200" cy="36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26c0b041c_0_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was partly SDGE’s effort to also reduce rates, but how do future rates evolve</a:t>
            </a:r>
            <a:endParaRPr/>
          </a:p>
        </p:txBody>
      </p:sp>
      <p:sp>
        <p:nvSpPr>
          <p:cNvPr id="94" name="Google Shape;94;g3c26c0b041c_0_57"/>
          <p:cNvSpPr txBox="1"/>
          <p:nvPr>
            <p:ph idx="1" type="body"/>
          </p:nvPr>
        </p:nvSpPr>
        <p:spPr>
          <a:xfrm>
            <a:off x="311700" y="1330350"/>
            <a:ext cx="8520600" cy="32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E3 tool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Not nimble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Not </a:t>
            </a:r>
            <a:r>
              <a:rPr lang="en"/>
              <a:t>transparent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 policies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Building our rate designer with levers we can change for affordability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Increased fixed costs of revenue requirement recouped through fixed charges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Remove wildfire costs (policy)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Reduce rate of return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Disadvantage is that we’re missing a lot of ground-truth data that E3 had (customer consumption with income)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26c0b041c_0_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designer</a:t>
            </a:r>
            <a:endParaRPr/>
          </a:p>
        </p:txBody>
      </p:sp>
      <p:sp>
        <p:nvSpPr>
          <p:cNvPr id="100" name="Google Shape;100;g3c26c0b041c_0_63"/>
          <p:cNvSpPr txBox="1"/>
          <p:nvPr>
            <p:ph idx="1" type="body"/>
          </p:nvPr>
        </p:nvSpPr>
        <p:spPr>
          <a:xfrm>
            <a:off x="311700" y="1017725"/>
            <a:ext cx="8520600" cy="38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Starts with: Current SDGE TOU-DR (not the new fixed cost) rate structure as baseline (~$1.56B residential revenue)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Designs new rates by: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Fixed charges: Moves 0-100% of Transmission &amp; Distribution costs from volumetric to fixed monthly charges [</a:t>
            </a:r>
            <a:r>
              <a:rPr lang="en" sz="1500">
                <a:solidFill>
                  <a:srgbClr val="FF0000"/>
                </a:solidFill>
              </a:rPr>
              <a:t>some differences in revenue requirement</a:t>
            </a:r>
            <a:r>
              <a:rPr lang="en" sz="1500">
                <a:solidFill>
                  <a:schemeClr val="dk1"/>
                </a:solidFill>
              </a:rPr>
              <a:t>]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Income graduation: CARE customers pay 40% of non-CARE fixed charges ($6 vs $24/month currently) [</a:t>
            </a:r>
            <a:r>
              <a:rPr lang="en" sz="1500">
                <a:solidFill>
                  <a:srgbClr val="FF0000"/>
                </a:solidFill>
              </a:rPr>
              <a:t>thinking</a:t>
            </a:r>
            <a:r>
              <a:rPr lang="en" sz="1500">
                <a:solidFill>
                  <a:schemeClr val="dk1"/>
                </a:solidFill>
              </a:rPr>
              <a:t>]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Wildfire: Option to remove $153M wildfire costs from rates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ROR reduction: Option to reduce rate of return by 0.5-1.5 percentage points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Maintains: Revenue neutrality when only changing fixed charge percentage (F0% and F50% collect same total revenue)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Adjusts: Total revenue down when removing wildfire costs or reducing ROE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Scales: All volumetric rates proportionally using current (Sept 31 2025) TOU peak/off-peak ratios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26c0b041c_0_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on native demand</a:t>
            </a:r>
            <a:endParaRPr/>
          </a:p>
        </p:txBody>
      </p:sp>
      <p:pic>
        <p:nvPicPr>
          <p:cNvPr id="106" name="Google Shape;106;g3c26c0b041c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0000" y="975350"/>
            <a:ext cx="6686226" cy="388014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c26c0b041c_0_69"/>
          <p:cNvSpPr txBox="1"/>
          <p:nvPr/>
        </p:nvSpPr>
        <p:spPr>
          <a:xfrm>
            <a:off x="4414750" y="4584250"/>
            <a:ext cx="1440600" cy="5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25% of fixed costs, no policies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8" name="Google Shape;108;g3c26c0b041c_0_69"/>
          <p:cNvSpPr txBox="1"/>
          <p:nvPr/>
        </p:nvSpPr>
        <p:spPr>
          <a:xfrm>
            <a:off x="5939875" y="4584250"/>
            <a:ext cx="1440600" cy="5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Removing wildfires from RR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9" name="Google Shape;109;g3c26c0b041c_0_69"/>
          <p:cNvSpPr txBox="1"/>
          <p:nvPr/>
        </p:nvSpPr>
        <p:spPr>
          <a:xfrm>
            <a:off x="7193850" y="4584250"/>
            <a:ext cx="1440600" cy="5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Removing wildfire and reducing ROR by 1%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26c0b041c_0_79"/>
          <p:cNvSpPr txBox="1"/>
          <p:nvPr>
            <p:ph type="title"/>
          </p:nvPr>
        </p:nvSpPr>
        <p:spPr>
          <a:xfrm>
            <a:off x="260850" y="80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on native demand</a:t>
            </a:r>
            <a:endParaRPr/>
          </a:p>
        </p:txBody>
      </p:sp>
      <p:pic>
        <p:nvPicPr>
          <p:cNvPr id="115" name="Google Shape;115;g3c26c0b041c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925" y="987953"/>
            <a:ext cx="5685673" cy="404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c26c0b041c_0_79"/>
          <p:cNvSpPr txBox="1"/>
          <p:nvPr/>
        </p:nvSpPr>
        <p:spPr>
          <a:xfrm>
            <a:off x="5634950" y="835425"/>
            <a:ext cx="1440600" cy="5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25% of fixed costs, no policies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17" name="Google Shape;117;g3c26c0b041c_0_79"/>
          <p:cNvSpPr txBox="1"/>
          <p:nvPr/>
        </p:nvSpPr>
        <p:spPr>
          <a:xfrm>
            <a:off x="2838500" y="3372525"/>
            <a:ext cx="1440600" cy="5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Removing wildfires from RR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18" name="Google Shape;118;g3c26c0b041c_0_79"/>
          <p:cNvSpPr txBox="1"/>
          <p:nvPr/>
        </p:nvSpPr>
        <p:spPr>
          <a:xfrm>
            <a:off x="5634950" y="3448800"/>
            <a:ext cx="1440600" cy="5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Removing wildfire and reducing ROR by 1%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26c0b041c_0_91"/>
          <p:cNvSpPr txBox="1"/>
          <p:nvPr>
            <p:ph type="title"/>
          </p:nvPr>
        </p:nvSpPr>
        <p:spPr>
          <a:xfrm>
            <a:off x="260850" y="80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on native demand</a:t>
            </a:r>
            <a:endParaRPr/>
          </a:p>
        </p:txBody>
      </p:sp>
      <p:pic>
        <p:nvPicPr>
          <p:cNvPr id="124" name="Google Shape;124;g3c26c0b041c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4075" y="805750"/>
            <a:ext cx="5878109" cy="418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26c0b041c_0_108"/>
          <p:cNvSpPr txBox="1"/>
          <p:nvPr>
            <p:ph type="title"/>
          </p:nvPr>
        </p:nvSpPr>
        <p:spPr>
          <a:xfrm>
            <a:off x="260850" y="80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requirement (Residential) - still figuring out </a:t>
            </a:r>
            <a:r>
              <a:rPr lang="en"/>
              <a:t>the</a:t>
            </a:r>
            <a:r>
              <a:rPr lang="en"/>
              <a:t> missing 0.1 and 0.01 billions</a:t>
            </a:r>
            <a:endParaRPr/>
          </a:p>
        </p:txBody>
      </p:sp>
      <p:pic>
        <p:nvPicPr>
          <p:cNvPr id="130" name="Google Shape;130;g3c26c0b041c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975" y="939900"/>
            <a:ext cx="7024775" cy="40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g3c26c0b041c_0_14"/>
          <p:cNvGraphicFramePr/>
          <p:nvPr/>
        </p:nvGraphicFramePr>
        <p:xfrm>
          <a:off x="703200" y="75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{71079383-1A99-4B9A-989E-A9FBFBA226AF}</a:tableStyleId>
              </a:tblPr>
              <a:tblGrid>
                <a:gridCol w="1629700"/>
                <a:gridCol w="1629700"/>
                <a:gridCol w="1629700"/>
                <a:gridCol w="1629700"/>
                <a:gridCol w="1629700"/>
              </a:tblGrid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Native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Electrified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Solar + storage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Other electrified appliances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4" hMerge="1"/>
                <a:tc rowSpan="4" hMerge="1"/>
                <a:tc rowSpan="4" h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 + TOU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TOU (EV rates)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70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Income graduated fixed charges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</a:tbl>
          </a:graphicData>
        </a:graphic>
      </p:graphicFrame>
      <p:cxnSp>
        <p:nvCxnSpPr>
          <p:cNvPr id="136" name="Google Shape;136;g3c26c0b041c_0_14"/>
          <p:cNvCxnSpPr/>
          <p:nvPr/>
        </p:nvCxnSpPr>
        <p:spPr>
          <a:xfrm>
            <a:off x="291925" y="753250"/>
            <a:ext cx="6600" cy="26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" name="Google Shape;137;g3c26c0b041c_0_14"/>
          <p:cNvCxnSpPr/>
          <p:nvPr/>
        </p:nvCxnSpPr>
        <p:spPr>
          <a:xfrm>
            <a:off x="2627475" y="434525"/>
            <a:ext cx="33315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" name="Google Shape;138;g3c26c0b041c_0_14"/>
          <p:cNvCxnSpPr/>
          <p:nvPr/>
        </p:nvCxnSpPr>
        <p:spPr>
          <a:xfrm>
            <a:off x="2434800" y="1496000"/>
            <a:ext cx="60258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g3c26c0b041c_0_14"/>
          <p:cNvSpPr txBox="1"/>
          <p:nvPr>
            <p:ph idx="4294967295" type="subTitle"/>
          </p:nvPr>
        </p:nvSpPr>
        <p:spPr>
          <a:xfrm>
            <a:off x="3380975" y="3838550"/>
            <a:ext cx="58383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/>
              <a:t>Affordability implications of changing rate designs and electric appliance adoptions across the state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c26c0b041c_0_14"/>
          <p:cNvSpPr txBox="1"/>
          <p:nvPr>
            <p:ph idx="4294967295" type="subTitle"/>
          </p:nvPr>
        </p:nvSpPr>
        <p:spPr>
          <a:xfrm>
            <a:off x="240125" y="3625575"/>
            <a:ext cx="2956500" cy="683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ct val="129032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 of oct 1, SDGE is the first utility in the state to implement IGFC!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26c0b041c_0_0"/>
          <p:cNvSpPr txBox="1"/>
          <p:nvPr>
            <p:ph type="ctrTitle"/>
          </p:nvPr>
        </p:nvSpPr>
        <p:spPr>
          <a:xfrm>
            <a:off x="778408" y="1050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Thrust 4: Tariff Design	</a:t>
            </a:r>
            <a:endParaRPr/>
          </a:p>
        </p:txBody>
      </p:sp>
      <p:sp>
        <p:nvSpPr>
          <p:cNvPr id="146" name="Google Shape;146;g3c26c0b041c_0_0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CCA all-hands meeting, Oct 3 2025</a:t>
            </a:r>
            <a:br>
              <a:rPr lang="en"/>
            </a:br>
            <a:r>
              <a:rPr lang="en"/>
              <a:t>Team: Madalsa, Rajni, Ranjit, Patricia</a:t>
            </a:r>
            <a:br>
              <a:rPr lang="en"/>
            </a:b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Special thanks to Sebastian Cox for initial help in compiling rate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151;p2"/>
          <p:cNvGraphicFramePr/>
          <p:nvPr/>
        </p:nvGraphicFramePr>
        <p:xfrm>
          <a:off x="703200" y="75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{71079383-1A99-4B9A-989E-A9FBFBA226AF}</a:tableStyleId>
              </a:tblPr>
              <a:tblGrid>
                <a:gridCol w="1629700"/>
                <a:gridCol w="1629700"/>
                <a:gridCol w="1629700"/>
                <a:gridCol w="1629700"/>
                <a:gridCol w="1629700"/>
              </a:tblGrid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Native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Electrified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Solar + storage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Other electrified appliances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4" hMerge="1"/>
                <a:tc rowSpan="4" hMerge="1"/>
                <a:tc rowSpan="4" h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 + TOU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TOU (EV rates)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70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Income graduated fixed charges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</a:tbl>
          </a:graphicData>
        </a:graphic>
      </p:graphicFrame>
      <p:cxnSp>
        <p:nvCxnSpPr>
          <p:cNvPr id="152" name="Google Shape;152;p2"/>
          <p:cNvCxnSpPr/>
          <p:nvPr/>
        </p:nvCxnSpPr>
        <p:spPr>
          <a:xfrm>
            <a:off x="291925" y="753250"/>
            <a:ext cx="6600" cy="26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" name="Google Shape;153;p2"/>
          <p:cNvCxnSpPr/>
          <p:nvPr/>
        </p:nvCxnSpPr>
        <p:spPr>
          <a:xfrm>
            <a:off x="2627475" y="434525"/>
            <a:ext cx="33315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" name="Google Shape;154;p2"/>
          <p:cNvCxnSpPr/>
          <p:nvPr/>
        </p:nvCxnSpPr>
        <p:spPr>
          <a:xfrm>
            <a:off x="2434800" y="1496000"/>
            <a:ext cx="60258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3"/>
          <p:cNvGraphicFramePr/>
          <p:nvPr/>
        </p:nvGraphicFramePr>
        <p:xfrm>
          <a:off x="703200" y="75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{71079383-1A99-4B9A-989E-A9FBFBA226AF}</a:tableStyleId>
              </a:tblPr>
              <a:tblGrid>
                <a:gridCol w="1629700"/>
                <a:gridCol w="1629700"/>
                <a:gridCol w="1629700"/>
                <a:gridCol w="1629700"/>
                <a:gridCol w="1629700"/>
              </a:tblGrid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Native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Electrified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Solar + storage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Other electrified appliances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4" hMerge="1"/>
                <a:tc rowSpan="4" hMerge="1"/>
                <a:tc rowSpan="4" h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 + TOU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TOU (EV rates)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70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Income graduated fixed charges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</a:tbl>
          </a:graphicData>
        </a:graphic>
      </p:graphicFrame>
      <p:cxnSp>
        <p:nvCxnSpPr>
          <p:cNvPr id="160" name="Google Shape;160;p3"/>
          <p:cNvCxnSpPr/>
          <p:nvPr/>
        </p:nvCxnSpPr>
        <p:spPr>
          <a:xfrm>
            <a:off x="291925" y="753250"/>
            <a:ext cx="6600" cy="26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" name="Google Shape;161;p3"/>
          <p:cNvCxnSpPr/>
          <p:nvPr/>
        </p:nvCxnSpPr>
        <p:spPr>
          <a:xfrm>
            <a:off x="2627475" y="434525"/>
            <a:ext cx="33315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3"/>
          <p:cNvCxnSpPr/>
          <p:nvPr/>
        </p:nvCxnSpPr>
        <p:spPr>
          <a:xfrm>
            <a:off x="2434800" y="1496000"/>
            <a:ext cx="60258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3"/>
          <p:cNvSpPr txBox="1"/>
          <p:nvPr>
            <p:ph idx="4294967295" type="subTitle"/>
          </p:nvPr>
        </p:nvSpPr>
        <p:spPr>
          <a:xfrm>
            <a:off x="1664900" y="3822175"/>
            <a:ext cx="71868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Bill impacts across geography, (local) income, and housing is understudied, especially under a rapidly changing rate design paradigm in the state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Google Shape;168;p4"/>
          <p:cNvGraphicFramePr/>
          <p:nvPr/>
        </p:nvGraphicFramePr>
        <p:xfrm>
          <a:off x="703200" y="75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{71079383-1A99-4B9A-989E-A9FBFBA226AF}</a:tableStyleId>
              </a:tblPr>
              <a:tblGrid>
                <a:gridCol w="1629700"/>
                <a:gridCol w="1629700"/>
                <a:gridCol w="1629700"/>
                <a:gridCol w="1629700"/>
                <a:gridCol w="1629700"/>
              </a:tblGrid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Native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Electrified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Solar + storage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Other electrified appliances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4" hMerge="1"/>
                <a:tc rowSpan="4" hMerge="1"/>
                <a:tc rowSpan="4" h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 + TOU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TOU (EV rates)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70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Income graduated fixed charges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</a:tbl>
          </a:graphicData>
        </a:graphic>
      </p:graphicFrame>
      <p:cxnSp>
        <p:nvCxnSpPr>
          <p:cNvPr id="169" name="Google Shape;169;p4"/>
          <p:cNvCxnSpPr/>
          <p:nvPr/>
        </p:nvCxnSpPr>
        <p:spPr>
          <a:xfrm>
            <a:off x="291925" y="753250"/>
            <a:ext cx="6600" cy="26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4"/>
          <p:cNvCxnSpPr/>
          <p:nvPr/>
        </p:nvCxnSpPr>
        <p:spPr>
          <a:xfrm>
            <a:off x="2627475" y="434525"/>
            <a:ext cx="33315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4"/>
          <p:cNvCxnSpPr/>
          <p:nvPr/>
        </p:nvCxnSpPr>
        <p:spPr>
          <a:xfrm>
            <a:off x="2434800" y="1496000"/>
            <a:ext cx="60258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" name="Google Shape;172;p4"/>
          <p:cNvSpPr txBox="1"/>
          <p:nvPr>
            <p:ph idx="4294967295" type="subTitle"/>
          </p:nvPr>
        </p:nvSpPr>
        <p:spPr>
          <a:xfrm>
            <a:off x="1664900" y="3822175"/>
            <a:ext cx="71868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Bill impacts across geography, (local) income, and housing is understudied, especially under a rapidly changing rate design paradigm in the state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>
            <p:ph idx="4294967295" type="subTitle"/>
          </p:nvPr>
        </p:nvSpPr>
        <p:spPr>
          <a:xfrm>
            <a:off x="2206000" y="2634150"/>
            <a:ext cx="2956500" cy="683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ct val="129032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 of oct 1, SDGE is the first utility in the state to implement IGFC!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5"/>
          <p:cNvGraphicFramePr/>
          <p:nvPr/>
        </p:nvGraphicFramePr>
        <p:xfrm>
          <a:off x="703200" y="75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{71079383-1A99-4B9A-989E-A9FBFBA226AF}</a:tableStyleId>
              </a:tblPr>
              <a:tblGrid>
                <a:gridCol w="1629700"/>
                <a:gridCol w="1629700"/>
                <a:gridCol w="1629700"/>
                <a:gridCol w="1629700"/>
                <a:gridCol w="1629700"/>
              </a:tblGrid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Native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Electrified demand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Solar + storage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Other electrified appliances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4" hMerge="1"/>
                <a:tc rowSpan="4" hMerge="1"/>
                <a:tc rowSpan="4" h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Tiered + TOU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TOU (EV rates)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70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Income graduated fixed charges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</a:tbl>
          </a:graphicData>
        </a:graphic>
      </p:graphicFrame>
      <p:cxnSp>
        <p:nvCxnSpPr>
          <p:cNvPr id="179" name="Google Shape;179;p5"/>
          <p:cNvCxnSpPr/>
          <p:nvPr/>
        </p:nvCxnSpPr>
        <p:spPr>
          <a:xfrm>
            <a:off x="291925" y="753250"/>
            <a:ext cx="6600" cy="264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5"/>
          <p:cNvCxnSpPr/>
          <p:nvPr/>
        </p:nvCxnSpPr>
        <p:spPr>
          <a:xfrm>
            <a:off x="2627475" y="434525"/>
            <a:ext cx="33315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" name="Google Shape;181;p5"/>
          <p:cNvCxnSpPr/>
          <p:nvPr/>
        </p:nvCxnSpPr>
        <p:spPr>
          <a:xfrm>
            <a:off x="2434800" y="1496000"/>
            <a:ext cx="60258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2" name="Google Shape;182;p5"/>
          <p:cNvSpPr txBox="1"/>
          <p:nvPr>
            <p:ph idx="4294967295" type="subTitle"/>
          </p:nvPr>
        </p:nvSpPr>
        <p:spPr>
          <a:xfrm>
            <a:off x="1664900" y="3822175"/>
            <a:ext cx="71868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Bill impacts across geography, (local) income, and housing is understudied, especially under a rapidly changing rate design paradigm in the state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>
            <p:ph idx="4294967295" type="subTitle"/>
          </p:nvPr>
        </p:nvSpPr>
        <p:spPr>
          <a:xfrm>
            <a:off x="2206000" y="2634150"/>
            <a:ext cx="2956500" cy="683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ct val="129032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 of oct 1, SDGE is the first utility in the state to implement IGFC!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200" y="37100"/>
            <a:ext cx="6491644" cy="24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Research questions</a:t>
            </a:r>
            <a:endParaRPr/>
          </a:p>
        </p:txBody>
      </p:sp>
      <p:sp>
        <p:nvSpPr>
          <p:cNvPr id="190" name="Google Shape;190;p6"/>
          <p:cNvSpPr txBox="1"/>
          <p:nvPr>
            <p:ph idx="1" type="body"/>
          </p:nvPr>
        </p:nvSpPr>
        <p:spPr>
          <a:xfrm>
            <a:off x="311700" y="1152475"/>
            <a:ext cx="8520600" cy="44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Tiered → Tiered + TOU or TOU only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Should we preserve any geographic baseline in rate design? Tiered rates have different baseline allowance by region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Original rates → rates with fixed charges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Bill impacts by region and income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How do efficiency upgrades by income and regions affect bills?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How does moving to demand response and DER adoption change customer bills? What are the equity implications of fixed charges? Especially if we pursue a higher fixed charge?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How does income identification impact bills?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Ex: assigning income randomly vs rank-based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en" sz="1600">
                <a:solidFill>
                  <a:schemeClr val="dk1"/>
                </a:solidFill>
              </a:rPr>
              <a:t>ResStock has it’s own income classification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en" sz="1600">
                <a:solidFill>
                  <a:schemeClr val="dk1"/>
                </a:solidFill>
              </a:rPr>
              <a:t>We classify based on an algorithm than combines RASS, census data (median income etc)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311700" y="1357300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Native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3180925" y="2656575"/>
            <a:ext cx="1942500" cy="474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6403600" y="1246900"/>
            <a:ext cx="2536800" cy="924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(Solar and storage)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3180925" y="13062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Efficiency upgrades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3180925" y="39286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Annual bills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(Dispatch)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7"/>
          <p:cNvCxnSpPr>
            <a:stCxn id="196" idx="2"/>
            <a:endCxn id="197" idx="0"/>
          </p:cNvCxnSpPr>
          <p:nvPr/>
        </p:nvCxnSpPr>
        <p:spPr>
          <a:xfrm>
            <a:off x="1282950" y="2171500"/>
            <a:ext cx="28692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7"/>
          <p:cNvCxnSpPr>
            <a:stCxn id="199" idx="2"/>
            <a:endCxn id="197" idx="0"/>
          </p:cNvCxnSpPr>
          <p:nvPr/>
        </p:nvCxnSpPr>
        <p:spPr>
          <a:xfrm>
            <a:off x="4152175" y="2120475"/>
            <a:ext cx="0" cy="53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7"/>
          <p:cNvCxnSpPr>
            <a:stCxn id="198" idx="2"/>
            <a:endCxn id="197" idx="0"/>
          </p:cNvCxnSpPr>
          <p:nvPr/>
        </p:nvCxnSpPr>
        <p:spPr>
          <a:xfrm flipH="1">
            <a:off x="4152100" y="2171500"/>
            <a:ext cx="35199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7"/>
          <p:cNvCxnSpPr>
            <a:stCxn id="197" idx="2"/>
            <a:endCxn id="200" idx="0"/>
          </p:cNvCxnSpPr>
          <p:nvPr/>
        </p:nvCxnSpPr>
        <p:spPr>
          <a:xfrm>
            <a:off x="4152175" y="3131475"/>
            <a:ext cx="0" cy="79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311700" y="1357300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Native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3180925" y="2656575"/>
            <a:ext cx="1942500" cy="474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6403600" y="1246900"/>
            <a:ext cx="2536800" cy="924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(Solar and storage)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3180925" y="13062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Efficiency upgrades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3180925" y="39286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Annual bills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(Dispatch)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8"/>
          <p:cNvCxnSpPr>
            <a:stCxn id="210" idx="2"/>
            <a:endCxn id="211" idx="0"/>
          </p:cNvCxnSpPr>
          <p:nvPr/>
        </p:nvCxnSpPr>
        <p:spPr>
          <a:xfrm>
            <a:off x="1282950" y="2171500"/>
            <a:ext cx="28692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8"/>
          <p:cNvCxnSpPr>
            <a:stCxn id="213" idx="2"/>
            <a:endCxn id="211" idx="0"/>
          </p:cNvCxnSpPr>
          <p:nvPr/>
        </p:nvCxnSpPr>
        <p:spPr>
          <a:xfrm>
            <a:off x="4152175" y="2120475"/>
            <a:ext cx="0" cy="53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8"/>
          <p:cNvCxnSpPr>
            <a:stCxn id="212" idx="2"/>
            <a:endCxn id="211" idx="0"/>
          </p:cNvCxnSpPr>
          <p:nvPr/>
        </p:nvCxnSpPr>
        <p:spPr>
          <a:xfrm flipH="1">
            <a:off x="4152100" y="2171500"/>
            <a:ext cx="35199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8"/>
          <p:cNvCxnSpPr>
            <a:stCxn id="211" idx="2"/>
            <a:endCxn id="214" idx="0"/>
          </p:cNvCxnSpPr>
          <p:nvPr/>
        </p:nvCxnSpPr>
        <p:spPr>
          <a:xfrm>
            <a:off x="4152175" y="3131475"/>
            <a:ext cx="0" cy="79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8"/>
          <p:cNvSpPr txBox="1"/>
          <p:nvPr/>
        </p:nvSpPr>
        <p:spPr>
          <a:xfrm>
            <a:off x="2638025" y="814300"/>
            <a:ext cx="6404100" cy="4139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ResStock is building simulation, need to root it in actual CA electricity data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ResStock overestimates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energy consumption in colder CZ and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underestimates in hotter zones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We technically don’t know the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income of building. ResStock has it’s own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Way to prescribe income, but it is not CA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specific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8425" y="1246900"/>
            <a:ext cx="2066499" cy="346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311700" y="1357300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Native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3180925" y="2656575"/>
            <a:ext cx="1942500" cy="474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6403600" y="1246900"/>
            <a:ext cx="2536800" cy="924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(Solar and storage)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3180925" y="13062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Efficiency upgrades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3180925" y="39286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Annual bills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(Dispatch)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9"/>
          <p:cNvCxnSpPr>
            <a:stCxn id="226" idx="2"/>
            <a:endCxn id="227" idx="0"/>
          </p:cNvCxnSpPr>
          <p:nvPr/>
        </p:nvCxnSpPr>
        <p:spPr>
          <a:xfrm>
            <a:off x="1282950" y="2171500"/>
            <a:ext cx="28692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9"/>
          <p:cNvCxnSpPr>
            <a:stCxn id="229" idx="2"/>
            <a:endCxn id="227" idx="0"/>
          </p:cNvCxnSpPr>
          <p:nvPr/>
        </p:nvCxnSpPr>
        <p:spPr>
          <a:xfrm>
            <a:off x="4152175" y="2120475"/>
            <a:ext cx="0" cy="53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9"/>
          <p:cNvCxnSpPr>
            <a:stCxn id="228" idx="2"/>
            <a:endCxn id="227" idx="0"/>
          </p:cNvCxnSpPr>
          <p:nvPr/>
        </p:nvCxnSpPr>
        <p:spPr>
          <a:xfrm flipH="1">
            <a:off x="4152100" y="2171500"/>
            <a:ext cx="35199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9"/>
          <p:cNvCxnSpPr>
            <a:stCxn id="227" idx="2"/>
            <a:endCxn id="230" idx="0"/>
          </p:cNvCxnSpPr>
          <p:nvPr/>
        </p:nvCxnSpPr>
        <p:spPr>
          <a:xfrm>
            <a:off x="4152175" y="3131475"/>
            <a:ext cx="0" cy="79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9"/>
          <p:cNvSpPr txBox="1"/>
          <p:nvPr/>
        </p:nvSpPr>
        <p:spPr>
          <a:xfrm>
            <a:off x="2638025" y="814300"/>
            <a:ext cx="6404100" cy="4139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Solution: benchmark ResStock to RASS using scaling factors and winsorizing the distribution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325" y="1402550"/>
            <a:ext cx="5317826" cy="347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242" name="Google Shape;242;p10"/>
          <p:cNvSpPr txBox="1"/>
          <p:nvPr/>
        </p:nvSpPr>
        <p:spPr>
          <a:xfrm>
            <a:off x="311700" y="1357300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Native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3180925" y="2656575"/>
            <a:ext cx="1942500" cy="474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6403600" y="1246900"/>
            <a:ext cx="2536800" cy="924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(Solar and storage)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3180925" y="13062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Efficiency upgrades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3180925" y="39286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Annual bills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(Dispatch)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10"/>
          <p:cNvCxnSpPr>
            <a:stCxn id="242" idx="2"/>
            <a:endCxn id="243" idx="0"/>
          </p:cNvCxnSpPr>
          <p:nvPr/>
        </p:nvCxnSpPr>
        <p:spPr>
          <a:xfrm>
            <a:off x="1282950" y="2171500"/>
            <a:ext cx="28692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10"/>
          <p:cNvCxnSpPr>
            <a:stCxn id="245" idx="2"/>
            <a:endCxn id="243" idx="0"/>
          </p:cNvCxnSpPr>
          <p:nvPr/>
        </p:nvCxnSpPr>
        <p:spPr>
          <a:xfrm>
            <a:off x="4152175" y="2120475"/>
            <a:ext cx="0" cy="53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10"/>
          <p:cNvCxnSpPr>
            <a:stCxn id="244" idx="2"/>
            <a:endCxn id="243" idx="0"/>
          </p:cNvCxnSpPr>
          <p:nvPr/>
        </p:nvCxnSpPr>
        <p:spPr>
          <a:xfrm flipH="1">
            <a:off x="4152100" y="2171500"/>
            <a:ext cx="35199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10"/>
          <p:cNvCxnSpPr>
            <a:stCxn id="243" idx="2"/>
            <a:endCxn id="246" idx="0"/>
          </p:cNvCxnSpPr>
          <p:nvPr/>
        </p:nvCxnSpPr>
        <p:spPr>
          <a:xfrm>
            <a:off x="4152175" y="3131475"/>
            <a:ext cx="0" cy="79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0"/>
          <p:cNvSpPr txBox="1"/>
          <p:nvPr/>
        </p:nvSpPr>
        <p:spPr>
          <a:xfrm>
            <a:off x="220550" y="1094225"/>
            <a:ext cx="2706000" cy="3740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6234400" y="1094225"/>
            <a:ext cx="2706000" cy="3740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1374150" y="2281475"/>
            <a:ext cx="6752100" cy="2587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use upgrade 11 with previously derived scaling factors to find new electricity demand with efficiency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311700" y="1357300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Native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3180925" y="2656575"/>
            <a:ext cx="1942500" cy="474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6403600" y="1246900"/>
            <a:ext cx="2536800" cy="924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(Solar and storage)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3180925" y="13062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Efficiency upgrades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3180925" y="39286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Annual bills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(Dispatch)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11"/>
          <p:cNvCxnSpPr>
            <a:stCxn id="259" idx="2"/>
            <a:endCxn id="260" idx="0"/>
          </p:cNvCxnSpPr>
          <p:nvPr/>
        </p:nvCxnSpPr>
        <p:spPr>
          <a:xfrm>
            <a:off x="1282950" y="2171500"/>
            <a:ext cx="28692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11"/>
          <p:cNvCxnSpPr>
            <a:stCxn id="262" idx="2"/>
            <a:endCxn id="260" idx="0"/>
          </p:cNvCxnSpPr>
          <p:nvPr/>
        </p:nvCxnSpPr>
        <p:spPr>
          <a:xfrm>
            <a:off x="4152175" y="2120475"/>
            <a:ext cx="0" cy="53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11"/>
          <p:cNvCxnSpPr>
            <a:stCxn id="261" idx="2"/>
            <a:endCxn id="260" idx="0"/>
          </p:cNvCxnSpPr>
          <p:nvPr/>
        </p:nvCxnSpPr>
        <p:spPr>
          <a:xfrm flipH="1">
            <a:off x="4152100" y="2171500"/>
            <a:ext cx="35199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1"/>
          <p:cNvCxnSpPr>
            <a:stCxn id="260" idx="2"/>
            <a:endCxn id="263" idx="0"/>
          </p:cNvCxnSpPr>
          <p:nvPr/>
        </p:nvCxnSpPr>
        <p:spPr>
          <a:xfrm>
            <a:off x="4152175" y="3131475"/>
            <a:ext cx="0" cy="79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1"/>
          <p:cNvSpPr txBox="1"/>
          <p:nvPr/>
        </p:nvSpPr>
        <p:spPr>
          <a:xfrm>
            <a:off x="118750" y="1034850"/>
            <a:ext cx="6098700" cy="3986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Our solar and storage sizing is heuristic based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Solar - sized to produce annual load and each house is given a powerwall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Simple dispatch - linear program with again simplifications to improve computational speed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export compensations - 100%, 30%, 0% (ACC is roughly between 0-30% depending on time of the year)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TODO: ACC 2025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 adding extra electrification – Ana’s paper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311700" y="1357300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Native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3180925" y="2656575"/>
            <a:ext cx="1942500" cy="474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6403600" y="1246900"/>
            <a:ext cx="2536800" cy="924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(Solar and storage)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3180925" y="13062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Efficiency upgrades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3180925" y="39286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Annual bills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(Dispatch)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12"/>
          <p:cNvCxnSpPr>
            <a:stCxn id="274" idx="2"/>
            <a:endCxn id="275" idx="0"/>
          </p:cNvCxnSpPr>
          <p:nvPr/>
        </p:nvCxnSpPr>
        <p:spPr>
          <a:xfrm>
            <a:off x="1282950" y="2171500"/>
            <a:ext cx="28692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12"/>
          <p:cNvCxnSpPr>
            <a:stCxn id="277" idx="2"/>
            <a:endCxn id="275" idx="0"/>
          </p:cNvCxnSpPr>
          <p:nvPr/>
        </p:nvCxnSpPr>
        <p:spPr>
          <a:xfrm>
            <a:off x="4152175" y="2120475"/>
            <a:ext cx="0" cy="53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2"/>
          <p:cNvCxnSpPr>
            <a:stCxn id="276" idx="2"/>
            <a:endCxn id="275" idx="0"/>
          </p:cNvCxnSpPr>
          <p:nvPr/>
        </p:nvCxnSpPr>
        <p:spPr>
          <a:xfrm flipH="1">
            <a:off x="4152100" y="2171500"/>
            <a:ext cx="35199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2"/>
          <p:cNvCxnSpPr>
            <a:stCxn id="275" idx="2"/>
            <a:endCxn id="278" idx="0"/>
          </p:cNvCxnSpPr>
          <p:nvPr/>
        </p:nvCxnSpPr>
        <p:spPr>
          <a:xfrm>
            <a:off x="4152175" y="3131475"/>
            <a:ext cx="0" cy="79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2"/>
          <p:cNvSpPr txBox="1"/>
          <p:nvPr/>
        </p:nvSpPr>
        <p:spPr>
          <a:xfrm>
            <a:off x="16975" y="933050"/>
            <a:ext cx="9042300" cy="14421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Developed a very detailed rate module (took most time, and continues to). Tracks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Minimum bill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Baseline charges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Baseline allowance (for each utility and climate zone)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50850" y="3248450"/>
            <a:ext cx="9042300" cy="18951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Season, hour, weekend/weekday for TOU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Tiered, TOU+tiered, TOU only, new rates with fixed charge (SDGE just started on Oct 1)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Hypothetical future rates with fixed charges (50% of all fixed cost recouped through fixed charges)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CARE/FERA discount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311700" y="1357300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Native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3180925" y="2656575"/>
            <a:ext cx="1942500" cy="474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6403600" y="1246900"/>
            <a:ext cx="2536800" cy="924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(Solar and storage)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3180925" y="13062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Efficiency upgrades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3180925" y="3928675"/>
            <a:ext cx="1942500" cy="8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Annual bills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(Dispatch)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13"/>
          <p:cNvCxnSpPr>
            <a:stCxn id="290" idx="2"/>
            <a:endCxn id="291" idx="0"/>
          </p:cNvCxnSpPr>
          <p:nvPr/>
        </p:nvCxnSpPr>
        <p:spPr>
          <a:xfrm>
            <a:off x="1282950" y="2171500"/>
            <a:ext cx="28692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13"/>
          <p:cNvCxnSpPr>
            <a:stCxn id="293" idx="2"/>
            <a:endCxn id="291" idx="0"/>
          </p:cNvCxnSpPr>
          <p:nvPr/>
        </p:nvCxnSpPr>
        <p:spPr>
          <a:xfrm>
            <a:off x="4152175" y="2120475"/>
            <a:ext cx="0" cy="53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3"/>
          <p:cNvCxnSpPr>
            <a:stCxn id="292" idx="2"/>
            <a:endCxn id="291" idx="0"/>
          </p:cNvCxnSpPr>
          <p:nvPr/>
        </p:nvCxnSpPr>
        <p:spPr>
          <a:xfrm flipH="1">
            <a:off x="4152100" y="2171500"/>
            <a:ext cx="3519900" cy="48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13"/>
          <p:cNvCxnSpPr>
            <a:stCxn id="291" idx="2"/>
            <a:endCxn id="294" idx="0"/>
          </p:cNvCxnSpPr>
          <p:nvPr/>
        </p:nvCxnSpPr>
        <p:spPr>
          <a:xfrm>
            <a:off x="4152175" y="3131475"/>
            <a:ext cx="0" cy="79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3"/>
          <p:cNvSpPr txBox="1"/>
          <p:nvPr/>
        </p:nvSpPr>
        <p:spPr>
          <a:xfrm>
            <a:off x="42400" y="1026375"/>
            <a:ext cx="8991300" cy="25701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Tracking annual bills, dispatch, exports for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Utility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Climate zone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type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Rate type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DO: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 avoided cost by grid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Marginal avoided GHG emissions with marginal emissions factors (damages $)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 txBox="1"/>
          <p:nvPr>
            <p:ph type="title"/>
          </p:nvPr>
        </p:nvSpPr>
        <p:spPr>
          <a:xfrm>
            <a:off x="311700" y="275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Results (SDGE, including Oct 1 2025 rates) [presented PGE in July]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"/>
          <p:cNvSpPr txBox="1"/>
          <p:nvPr>
            <p:ph type="title"/>
          </p:nvPr>
        </p:nvSpPr>
        <p:spPr>
          <a:xfrm>
            <a:off x="311700" y="275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Tiered -&gt; TOU rates (baseline)</a:t>
            </a:r>
            <a:endParaRPr/>
          </a:p>
        </p:txBody>
      </p:sp>
      <p:pic>
        <p:nvPicPr>
          <p:cNvPr id="310" name="Google Shape;3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0" y="1288850"/>
            <a:ext cx="8839204" cy="3133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 txBox="1"/>
          <p:nvPr>
            <p:ph type="title"/>
          </p:nvPr>
        </p:nvSpPr>
        <p:spPr>
          <a:xfrm>
            <a:off x="311700" y="275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Tiered → TOU rates (baseline, upgrade 11)</a:t>
            </a:r>
            <a:endParaRPr/>
          </a:p>
        </p:txBody>
      </p:sp>
      <p:pic>
        <p:nvPicPr>
          <p:cNvPr id="316" name="Google Shape;3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700" y="848075"/>
            <a:ext cx="6013998" cy="213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350" y="2979975"/>
            <a:ext cx="6166702" cy="21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Solar + storage bills by income (baseline, TOU DR1)</a:t>
            </a:r>
            <a:endParaRPr/>
          </a:p>
        </p:txBody>
      </p:sp>
      <p:pic>
        <p:nvPicPr>
          <p:cNvPr id="323" name="Google Shape;3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200" y="1178275"/>
            <a:ext cx="5594276" cy="378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Solar + storage bills by income (baseline, TOU DR1)</a:t>
            </a:r>
            <a:endParaRPr/>
          </a:p>
        </p:txBody>
      </p:sp>
      <p:pic>
        <p:nvPicPr>
          <p:cNvPr id="329" name="Google Shape;3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24700"/>
            <a:ext cx="5594276" cy="378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8"/>
          <p:cNvPicPr preferRelativeResize="0"/>
          <p:nvPr/>
        </p:nvPicPr>
        <p:blipFill rotWithShape="1">
          <a:blip r:embed="rId4">
            <a:alphaModFix/>
          </a:blip>
          <a:srcRect b="4209" l="-4930" r="4928" t="-4210"/>
          <a:stretch/>
        </p:blipFill>
        <p:spPr>
          <a:xfrm>
            <a:off x="5594275" y="1820286"/>
            <a:ext cx="3383474" cy="259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Fixed charge impacts (baseline, tiered rate)</a:t>
            </a:r>
            <a:endParaRPr/>
          </a:p>
        </p:txBody>
      </p:sp>
      <p:pic>
        <p:nvPicPr>
          <p:cNvPr id="336" name="Google Shape;3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62900"/>
            <a:ext cx="8839204" cy="313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Fixed charge impacts (baseline vs upgrade, tiered rate)</a:t>
            </a:r>
            <a:endParaRPr/>
          </a:p>
        </p:txBody>
      </p:sp>
      <p:pic>
        <p:nvPicPr>
          <p:cNvPr id="342" name="Google Shape;3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600" y="1209801"/>
            <a:ext cx="8483374" cy="301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Fixed charge impacts (baseline, tiered rate)</a:t>
            </a:r>
            <a:endParaRPr/>
          </a:p>
        </p:txBody>
      </p:sp>
      <p:pic>
        <p:nvPicPr>
          <p:cNvPr id="348" name="Google Shape;3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8600" y="607025"/>
            <a:ext cx="6073677" cy="215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7350" y="2898524"/>
            <a:ext cx="6004070" cy="207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